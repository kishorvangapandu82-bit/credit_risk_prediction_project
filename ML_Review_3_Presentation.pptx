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CC"/>
                </a:solidFill>
              </a:defRPr>
            </a:pPr>
            <a:r>
              <a:t>ML REVIEW 3 PRESENTATION</a:t>
            </a:r>
          </a:p>
          <a:p>
            <a:pPr>
              <a:spcAft>
                <a:spcPts val="2400"/>
              </a:spcAft>
              <a:defRPr sz="2400" b="1">
                <a:solidFill>
                  <a:srgbClr val="FFFFFF"/>
                </a:solidFill>
              </a:defRPr>
            </a:pPr>
            <a:r>
              <a:t>An Empirical Benchmark of Machine Learning and Deep Learning Architectures for Credit Default Risk Prediction with Macroeconomic Stress Testing and SHAP Interpretability</a:t>
            </a:r>
          </a:p>
          <a:p>
            <a:pPr>
              <a:spcAft>
                <a:spcPts val="1200"/>
              </a:spcAft>
              <a:defRPr sz="1200" b="1">
                <a:solidFill>
                  <a:srgbClr val="007ACC"/>
                </a:solidFill>
              </a:defRPr>
            </a:pPr>
            <a:r>
              <a:t>PROJECT METADATA &amp; PRESENTER DETAILS</a:t>
            </a:r>
          </a:p>
          <a:p>
            <a:pPr>
              <a:defRPr sz="1300" b="1">
                <a:solidFill>
                  <a:srgbClr val="C8DCF0"/>
                </a:solidFill>
              </a:defRPr>
            </a:pPr>
            <a:r>
              <a:t>•  Paper / Project Title:  </a:t>
            </a:r>
            <a:r>
              <a:rPr b="0">
                <a:solidFill>
                  <a:srgbClr val="FFFFFF"/>
                </a:solidFill>
              </a:rPr>
              <a:t>An Empirical Benchmark of Machine Learning and Deep Learning Architectures for Credit Default Risk Prediction</a:t>
            </a:r>
          </a:p>
          <a:p>
            <a:pPr>
              <a:defRPr sz="1300" b="1">
                <a:solidFill>
                  <a:srgbClr val="C8DCF0"/>
                </a:solidFill>
              </a:defRPr>
            </a:pPr>
            <a:r>
              <a:t>•  Paper ID:  </a:t>
            </a:r>
            <a:r>
              <a:rPr b="0">
                <a:solidFill>
                  <a:srgbClr val="FFFFFF"/>
                </a:solidFill>
              </a:rPr>
              <a:t>[CS-ML-2026-042 / Insert Paper ID]</a:t>
            </a:r>
          </a:p>
          <a:p>
            <a:pPr>
              <a:defRPr sz="1300" b="1">
                <a:solidFill>
                  <a:srgbClr val="C8DCF0"/>
                </a:solidFill>
              </a:defRPr>
            </a:pPr>
            <a:r>
              <a:t>•  Presenter Name:  </a:t>
            </a:r>
            <a:r>
              <a:rPr b="0">
                <a:solidFill>
                  <a:srgbClr val="FFFFFF"/>
                </a:solidFill>
              </a:rPr>
              <a:t>[Sumitranand Sharma / Insert Student Name]</a:t>
            </a:r>
          </a:p>
          <a:p>
            <a:pPr>
              <a:defRPr sz="1300" b="1">
                <a:solidFill>
                  <a:srgbClr val="C8DCF0"/>
                </a:solidFill>
              </a:defRPr>
            </a:pPr>
            <a:r>
              <a:t>•  Registration Number:  </a:t>
            </a:r>
            <a:r>
              <a:rPr b="0">
                <a:solidFill>
                  <a:srgbClr val="FFFFFF"/>
                </a:solidFill>
              </a:rPr>
              <a:t>[22BCE10420 / Insert Registration Number]</a:t>
            </a:r>
          </a:p>
          <a:p>
            <a:pPr>
              <a:defRPr sz="1300" b="1">
                <a:solidFill>
                  <a:srgbClr val="C8DCF0"/>
                </a:solidFill>
              </a:defRPr>
            </a:pPr>
            <a:r>
              <a:t>•  Target Domain:  </a:t>
            </a:r>
            <a:r>
              <a:rPr b="0">
                <a:solidFill>
                  <a:srgbClr val="FFFFFF"/>
                </a:solidFill>
              </a:rPr>
              <a:t>Financial Engineering, Machine Learning, Risk Governance (Basel II/III)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1: PROBLEM DEFINITION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Problem Statement &amp;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2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1. Problem Being Addressed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Predicting 2-year borrower credit default probability (SeriousDlqin2yrs) on consumer portfolios to optimize capital reserves and credit risk underwriting under Basel II/III regulatory standards.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2. Financial Importance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Capital Reserve Sensitivity: Even a 10–20 bps (0.1–0.2%) inaccuracy in Probability of Default (PD) estimation causes hundreds of millions of dollars in misallocated capital reserves or unmitigated credit losses during recessions.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3. Current Industry Challenges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Extreme Class Imbalance: Default rate is ~6.68% (14:1 ratio).</a:t>
            </a:r>
            <a:br/>
            <a:r>
              <a:t>• Non-linear Dynamics: Income spikes, age, &amp; debt ratios exhibit non-monotonic risk profiles.</a:t>
            </a:r>
            <a:br/>
            <a:r>
              <a:t>• Informative Missing Data: ~20% missing income records.</a:t>
            </a:r>
            <a:br/>
            <a:r>
              <a:t>• Black-Box Opacity: Regulatory mandates (FCRA/ECOA) prohibit unexplainable AI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4. Specific Problem Identified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Traditional scorecard Logistic Regression fails to capture non-linear interaction terms, missing 37.8% of defaults. Published ML literature suffers from data leakage (pre-split imputation/scaling), lacks macroeconomic stress testing, and omits adverse-action XAI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2: EMPIRICAL DATA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Dataset Architecture &amp;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3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365D"/>
                </a:solidFill>
              </a:defRPr>
            </a:pPr>
            <a:r>
              <a:t>Dataset Profile: Give Me Some Credit (GMSC)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Dataset Source: </a:t>
            </a:r>
            <a:r>
              <a:rPr b="0">
                <a:solidFill>
                  <a:srgbClr val="2C3E50"/>
                </a:solidFill>
              </a:rPr>
              <a:t>Kaggle Benchmark Repository (Public Domain)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Total Records (N): </a:t>
            </a:r>
            <a:r>
              <a:rPr b="0">
                <a:solidFill>
                  <a:srgbClr val="2C3E50"/>
                </a:solidFill>
              </a:rPr>
              <a:t>150,000 Borrower Observations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Training Partition: </a:t>
            </a:r>
            <a:r>
              <a:rPr b="0">
                <a:solidFill>
                  <a:srgbClr val="2C3E50"/>
                </a:solidFill>
              </a:rPr>
              <a:t>105,000 Records (70% Stratified Split)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Holdout Test Partition: </a:t>
            </a:r>
            <a:r>
              <a:rPr b="0">
                <a:solidFill>
                  <a:srgbClr val="2C3E50"/>
                </a:solidFill>
              </a:rPr>
              <a:t>45,000 Records (30% Untouched Split)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Target Variable: </a:t>
            </a:r>
            <a:r>
              <a:rPr b="0">
                <a:solidFill>
                  <a:srgbClr val="2C3E50"/>
                </a:solidFill>
              </a:rPr>
              <a:t>SeriousDlqin2yrs (Binary: 0=Good, 1=Default)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Negative Class (0): </a:t>
            </a:r>
            <a:r>
              <a:rPr b="0">
                <a:solidFill>
                  <a:srgbClr val="2C3E50"/>
                </a:solidFill>
              </a:rPr>
              <a:t>139,974 accounts (93.32% Non-default)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Positive Class (1): </a:t>
            </a:r>
            <a:r>
              <a:rPr b="0">
                <a:solidFill>
                  <a:srgbClr val="2C3E50"/>
                </a:solidFill>
              </a:rPr>
              <a:t>10,026 accounts (6.68% Default)</a:t>
            </a:r>
          </a:p>
          <a:p>
            <a:pPr>
              <a:defRPr sz="1100" b="1">
                <a:solidFill>
                  <a:srgbClr val="4B6B94"/>
                </a:solidFill>
              </a:defRPr>
            </a:pPr>
            <a:r>
              <a:t>• Imbalance Ratio: </a:t>
            </a:r>
            <a:r>
              <a:rPr b="0">
                <a:solidFill>
                  <a:srgbClr val="2C3E50"/>
                </a:solidFill>
              </a:rPr>
              <a:t>13.96 : 1 (Severe Minoritarian Target)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365D"/>
                </a:solidFill>
              </a:defRPr>
            </a:pPr>
            <a:r>
              <a:t>Predictive Covariates &amp; Quality Anomalies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10 Baseline Predictive Features:</a:t>
            </a:r>
            <a:br/>
            <a:r>
              <a:t>• RevolvingUtilizationOfUnsecuredLines (Ratio)</a:t>
            </a:r>
            <a:br/>
            <a:r>
              <a:t>• age (Demographic Integer)</a:t>
            </a:r>
            <a:br/>
            <a:r>
              <a:t>• DebtRatio (Financial Burden Ratio)</a:t>
            </a:r>
            <a:br/>
            <a:r>
              <a:t>• MonthlyIncome (Gross Currency)</a:t>
            </a:r>
            <a:br/>
            <a:r>
              <a:t>• NumberOfOpenCreditLinesAndLoans (Count)</a:t>
            </a:r>
            <a:br/>
            <a:r>
              <a:t>• NumberRealEstateLoansOrLines (Count)</a:t>
            </a:r>
            <a:br/>
            <a:r>
              <a:t>• Delinquency Recency: 30-59 Days, 60-89 Days, 90+ Days Late</a:t>
            </a:r>
            <a:br/>
            <a:r>
              <a:t>• NumberOfDependents (Family Count)</a:t>
            </a:r>
            <a:br/>
            <a:br/>
            <a:r>
              <a:t>Data Quality Anomalies Identified:</a:t>
            </a:r>
            <a:br/>
            <a:r>
              <a:t>• Informative Missingness: MonthlyIncome (19.82% missing), Dependents (2.62% missing).</a:t>
            </a:r>
            <a:br/>
            <a:r>
              <a:t>• Institutional Codes: Delinquency fields contained 96 &amp; 98 (un-contactable codes recoded to NaN).</a:t>
            </a:r>
            <a:br/>
            <a:r>
              <a:t>• Biological Anomalies: age=0 recorded in 1 row (recoded to NaN).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3: LITERATURE SURVEY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Literature Review &amp; Comparative Analysis (6 Core Articles)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4 of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2011680"/>
                <a:gridCol w="1828800"/>
                <a:gridCol w="2286000"/>
                <a:gridCol w="2286000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Author(s)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 Title / Focus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 / Model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Results &amp; Findings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 &amp; Project Relevance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Lessmann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Benchmarking Credit Scoring Classifiers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41 ML algorithms (SVM, RF, NNs) on 8 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Random Forest &amp; Ensembles outperform Logistic Regression across all datasets.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Lacked XGBoost/LightGBM evaluation, macroeconomic stress testing, and SHAP XAI.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Chen &amp; Guestrin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XGBoost: Scalable Tree Boosting System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Gradient Boosted Trees with regularized objectives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Proved state-of-the-art tabular accuracy &amp; scalable parallel training.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Lacks domain-specific economic stress testing and regulatory compliance mechanisms.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Ke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LightGBM: Fast Gradient Boosting GDT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Histogram-based GOSS &amp; Exclusive Feature Bundling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Achieved 10x faster training speed with equal/higher AUC than XGBoost.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Evaluated on general benchmarks without cost-asymmetric credit loss functions.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Lundberg &amp; Lee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Unified Interpretability (SHAP)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Game-theoretic Shapley Additive Explanations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Mathematically proves unique consistency properties for local explanations.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Dense networks have high compute overhead; requires TreeSHAP for tree ensembles.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Grinsztajn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Tree Models vs Deep Learning on Tabular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XGBoost, LightGBM, RF vs MLP on 45 tabular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Gradient boosted trees decisively outperform deep neural nets on tabular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Did not assess credit-specific class imbalance or regulatory adverse action requirements.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Hand &amp; Henley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1997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Statistical Classification in Credit Scoring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Logistic Regression &amp; Discriminant Analysis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Established Logistic Regression scorecard as industry benchmark.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Fails to capture non-linear interaction terms, resulting in poor default recall.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3: LITERATURE SURVEY (CONTD.)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Literature Synthesis &amp; Benchmark Methodological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5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B365D"/>
                </a:solidFill>
              </a:defRPr>
            </a:pPr>
            <a:r>
              <a:t>Evolution of Credit Scoring Models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Phase 1 (1990s): Parametric Linear Models (Hand &amp; Henley, 1997) dominated for regulatory transparency, but suffered high false-negative default losses.</a:t>
            </a:r>
            <a:br/>
            <a:r>
              <a:t>• Phase 2 (2010s): Ensembles &amp; Boosting (Lessmann 2015, Chen 2016, Ke 2017) demonstrated superior discrimination on complex non-linear financial attributes.</a:t>
            </a:r>
            <a:br/>
            <a:r>
              <a:t>• Phase 3 (2020s): Deep Tabular vs GBDTs (Grinsztajn 2022) established that tree architectures match un-normalized tabular manifolds far better than deep neural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B365D"/>
                </a:solidFill>
              </a:defRPr>
            </a:pPr>
            <a:r>
              <a:t>Explainability &amp; Regulatory Paradigm Shift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The 'Black-Box' Penalty: Financial institutions rejected high-performing ML models due to US FCRA and ECOA mandates requiring explicit Adverse Action reason codes.</a:t>
            </a:r>
            <a:br/>
            <a:r>
              <a:t>• Game-Theoretic Solution: Lundberg &amp; Lee (2017) introduced SHAP, enabling exact additive feature attributions that bridge the gap between high accuracy GBDTs and regulatory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4: RESEARCH GAP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Identified Research Gaps &amp; Proposed Project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6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1. Data Leakage in Published Benchmarks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Existing Literature Strategy: Global dataset imputation and scaling prior to train/test partitioning.</a:t>
            </a:r>
            <a:br/>
            <a:r>
              <a:t>Our Solution: Strict isolation protocol; imputers and scalers fitted EXCLUSIVELY on X_train (105k) and applied to untouched holdout X_test (45k).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2. Omission of Macroeconomic Stress Testing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Existing Literature Strategy: Static evaluation on clean test splits without testing robustness under recession shocks.</a:t>
            </a:r>
            <a:br/>
            <a:r>
              <a:t>Our Solution: Econometric stress testing engine simulating a severe stagflation shock (-20% income, +25% debt spike) to verify AUC stability &amp; score migration.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3. Regulatory Black-Box Barrier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Existing Literature Strategy: Reporting high accuracy without providing FCRA/ECOA adverse-action justification.</a:t>
            </a:r>
            <a:br/>
            <a:r>
              <a:t>Our Solution: TreeSHAP game-theoretic explainability generating global feature rankings &amp; local waterfall reason codes for loan approvals and rejections.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4. Hyperparameter Ceiling Exploration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Existing Literature Strategy: Ad-hoc manual tuning or computationally prohibitive exhaustive grid searches.</a:t>
            </a:r>
            <a:br/>
            <a:r>
              <a:t>Our Solution: Automated Bayesian Optimization via Optuna TPE over 50 trials per model family to identify mathematical representation bounds.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5: FEATURE ENGINEERING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Feature Selection &amp; Game-Theoretic TreeSHAP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7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TreeSHAP Feature Importance Analysis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• Selection Methodology: Rather than arbitrary heuristic filtering, we utilized game-theoretic TreeSHAP (SHapley Additive exPlanations) to measure exact marginal contribution across all feature combinations.</a:t>
            </a:r>
            <a:br/>
            <a:br/>
            <a:r>
              <a:t>Top Predictive Feature Ranking (Mean |SHAP|):</a:t>
            </a:r>
            <a:br/>
            <a:r>
              <a:t>1. RevolvingUtilizationOfUnsecuredLines (0.8247) — Dominant risk factor.</a:t>
            </a:r>
            <a:br/>
            <a:r>
              <a:t>2. NumberOfTime30-59DaysPastDueNotWorse (0.3627) — Early delinquency.</a:t>
            </a:r>
            <a:br/>
            <a:r>
              <a:t>3. NumberOfTimes90DaysLate (0.3231) — Severe delinquency signal.</a:t>
            </a:r>
            <a:br/>
            <a:r>
              <a:t>4. age (0.2322) — Older borrowers exhibit lower risk.</a:t>
            </a:r>
            <a:br/>
            <a:r>
              <a:t>5. NumberOfTime60-89DaysPastDueNotWorse (0.1796) — Intermediate signal.</a:t>
            </a:r>
            <a:br/>
            <a:r>
              <a:t>6. NumberOfOpenCreditLinesAndLoans (0.1622) — Credit activity.</a:t>
            </a:r>
            <a:br/>
            <a:r>
              <a:t>7. DebtRatio (0.1297) — Financial obligation burden.</a:t>
            </a:r>
            <a:br/>
            <a:r>
              <a:t>8. MonthlyIncome (0.1113) — Liquidity buffer.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029200" cy="2923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6: PREPROCESSING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Data Preprocessing &amp; Anti-Leakage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8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Step 1: Deterministic Cleaning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Biological Invalidity: Set age=0 to NaN.</a:t>
            </a:r>
            <a:br/>
            <a:r>
              <a:t>• Artifact Recoding: Institutional codes 96 &amp; 98 (un-contactable records) recoded to NaN across all 3 delinquency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Step 2: Strict Stratified Partition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70% Train (N=105,000) / 30% Holdout Test (N=45,000).</a:t>
            </a:r>
            <a:br/>
            <a:r>
              <a:t>• Target Default Rate exact match: 6.6838% Train vs 6.6844% Test (Discrepancy &lt; 0.0006%).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Step 3: Anti-Leakage Transformation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Median Imputation: Fitted ONLY on X_train (Income &amp; Dependents).</a:t>
            </a:r>
            <a:br/>
            <a:r>
              <a:t>• Outlier Winsorization: Capped at 99th percentile of X_train.</a:t>
            </a:r>
            <a:br/>
            <a:r>
              <a:t>• Robust Standard Scaling: Fitted exclusively on X_train.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Step 4: Class Imbalance Handling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Class Weighting: Pos-weight scale factor = 13.96 (97,982 / 7,018 ratio).</a:t>
            </a:r>
            <a:br/>
            <a:r>
              <a:t>• Prevents model bias toward majority non-default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7: METHODOLOGY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Algorithmic Design &amp; Evaluated Model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9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365D"/>
                </a:solidFill>
              </a:defRPr>
            </a:pPr>
            <a:r>
              <a:t>Taxonomy of 7 Benchmarked Predictive Architectures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1. L2-Penalized Logistic Regression: Parametric linear baseline solved via L-BFGS (C=0.001, balanced weights).</a:t>
            </a:r>
            <a:br/>
            <a:r>
              <a:t>2. CART Decision Tree: Non-parametric decision tree with Gini impurity criterion (Max depth=6, 59 leaf nodes).</a:t>
            </a:r>
            <a:br/>
            <a:r>
              <a:t>3. Support Vector Machine (Linear SVM): Calibrated linear hyperplanes (C=0.01, Platt calibration for probabilities).</a:t>
            </a:r>
            <a:br/>
            <a:r>
              <a:t>4. Multi-Layer Perceptron (MLP): Deep feedforward neural network (Architecture: Input(10) -&gt; Dense(64, ReLU) -&gt; Dense(32, ReLU) -&gt; Sigmoid, Adam optimizer, early stopping at epoch 25).</a:t>
            </a:r>
            <a:br/>
            <a:r>
              <a:t>5. Random Forest: Bagging ensemble of 200 de-correlated trees (Max depth=12, sqrt feature subsampling).</a:t>
            </a:r>
            <a:br/>
            <a:r>
              <a:t>6. Extreme Gradient Boosting (XGBoost): Hist-based gradient boosted decision trees (300 boosting rounds, lr=0.05, max_depth=3, scale_pos_weight=13.96).</a:t>
            </a:r>
            <a:br/>
            <a:r>
              <a:t>7. Light Gradient Boosting Machine (LightGBM): Histogram-based GOSS tree boosting (200 rounds, num_leaves=14, lr=0.0453).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7: METHODOLOGY (CONTD.)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End-to-End Pipeline Workflow &amp; Optuna Bayesian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10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365D"/>
                </a:solidFill>
              </a:defRPr>
            </a:pPr>
            <a:r>
              <a:t>Complete Execution Pipeline Workflow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[Raw Borrower Data N=150,000]</a:t>
            </a:r>
            <a:br/>
            <a:r>
              <a:t>        │</a:t>
            </a:r>
            <a:br/>
            <a:r>
              <a:t>        ▼</a:t>
            </a:r>
            <a:br/>
            <a:r>
              <a:t>[Data Cleaning &amp; Code Recoding (96/98 -&gt; NaN)]</a:t>
            </a:r>
            <a:br/>
            <a:r>
              <a:t>        │</a:t>
            </a:r>
            <a:br/>
            <a:r>
              <a:t>        ▼</a:t>
            </a:r>
            <a:br/>
            <a:r>
              <a:t>[Stratified 70/30 Train/Test Partition]</a:t>
            </a:r>
            <a:br/>
            <a:r>
              <a:t>        │</a:t>
            </a:r>
            <a:br/>
            <a:r>
              <a:t>        ▼</a:t>
            </a:r>
            <a:br/>
            <a:r>
              <a:t>[Imputation &amp; Scaling Fitted on X_train ONLY]</a:t>
            </a:r>
            <a:br/>
            <a:r>
              <a:t>        │</a:t>
            </a:r>
            <a:br/>
            <a:r>
              <a:t>        ▼</a:t>
            </a:r>
            <a:br/>
            <a:r>
              <a:t>[Stratified 10-Fold CV &amp; Optuna Bayesian Tuning (50 Trials)]</a:t>
            </a:r>
            <a:br/>
            <a:r>
              <a:t>        │</a:t>
            </a:r>
            <a:br/>
            <a:r>
              <a:t>        ▼</a:t>
            </a:r>
            <a:br/>
            <a:r>
              <a:t>[Model Evaluation on Untouched Holdout X_test (N=45,000)]</a:t>
            </a:r>
            <a:br/>
            <a:r>
              <a:t>        │</a:t>
            </a:r>
            <a:br/>
            <a:r>
              <a:t>        ▼</a:t>
            </a:r>
            <a:br/>
            <a:r>
              <a:t>[Macroeconomic Stress Testing &amp; TreeSHAP Compliance]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365D"/>
                </a:solidFill>
              </a:defRPr>
            </a:pPr>
            <a:r>
              <a:t>Optuna Bayesian Optimization Dynamics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• TPE Algorithm: Tree-structured Parzen Estimator evaluated 50 trials per model family across 10-fold CV splits.</a:t>
            </a:r>
            <a:br/>
            <a:br/>
            <a:r>
              <a:t>• Selected Best Parameters:</a:t>
            </a:r>
            <a:br/>
            <a:r>
              <a:t>  - LightGBM: lr=0.0453, num_leaves=14, n_estimators=200, reg_alpha=2.02, reg_lambda=7.82 (CV-AUC: 0.8654)</a:t>
            </a:r>
            <a:br/>
            <a:r>
              <a:t>  - XGBoost: lr=0.0527, max_depth=4, n_estimators=250, reg_alpha=4.11, reg_lambda=8.04 (CV-AUC: 0.8653)</a:t>
            </a:r>
            <a:br/>
            <a:r>
              <a:t>  - Random Forest: n_estimators=200, max_depth=12, min_samples_split=50 (CV-AUC: 0.8637)</a:t>
            </a:r>
            <a:br/>
            <a:r>
              <a:t>  - MLP: 2 Hidden Layers [64, 32], lr=0.001, alpha=0.001 (CV-AUC: 0.8325)</a:t>
            </a:r>
            <a:br/>
            <a:br/>
            <a:r>
              <a:t>• Asymptotic Ceiling Insight: Optimization reached a plateau at ~0.8654 CV-AUC, proving tabular feature representation bounds performance rather than hyperparameter search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8: EMPIRICAL RESULTS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Empirical Benchmark Results on Untouched Holdout Test Set (N=45,000)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11 of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1188720"/>
                <a:gridCol w="1280160"/>
                <a:gridCol w="1280160"/>
                <a:gridCol w="1188720"/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 (Class 1)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(Class 1)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Set Size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365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LightGBM (Gradient Boosting)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0.8667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0.7852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365D"/>
                          </a:solidFill>
                        </a:defRPr>
                      </a:pPr>
                      <a:r>
                        <a:t>0.2126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365D"/>
                          </a:solidFill>
                        </a:defRPr>
                      </a:pPr>
                      <a:r>
                        <a:t>0.3346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365D"/>
                          </a:solidFill>
                        </a:defRPr>
                      </a:pPr>
                      <a:r>
                        <a:t>0.7912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365D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XGBoost (Gradient Boosting)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0.8664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0.7773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0.2149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0.3367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0.7953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Random Forest (Bagging)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0.7512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0.3377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0.8015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Decision Tree (CART)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0.8437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0.7354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0.2251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0.3447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0.8131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MLP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0.7098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0.3365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0.8129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Logistic Regression (Baseline)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0.8227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0.6220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0.2702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0.3767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0.8624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Support Vector Machine (Linear)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0.8205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C3E50"/>
                          </a:solidFill>
                        </a:defRPr>
                      </a:pPr>
                      <a:r>
                        <a:t>0.1523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0.5902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0.2421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0.9363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3E5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10698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365D"/>
                </a:solidFill>
              </a:defRPr>
            </a:pPr>
            <a:r>
              <a:t>Key Empirical Observations &amp; Financial Interpretation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• Dominant Default Recall: LightGBM (78.52%) and XGBoost (77.73%) catch over 2,362 out of 3,008 default accounts, outperforming Logistic Regression (62.20%) by +16.3 percentage points.</a:t>
            </a:r>
            <a:br/>
            <a:r>
              <a:t>• Precision Ceiling (~21.3%): Due to severe 14:1 class imbalance, catching 78% of defaults yields false positives in large negative pools. In banking, False Negative cost (loan loss) is 15-20x higher than False Positive cost (lost margin), making high recall mathematically optimal.</a:t>
            </a:r>
            <a:br/>
            <a:r>
              <a:t>• Deep Learning Plateau: MLP (0.8376 AUC) failed to beat Decision Tree ensembles, proving GBDTs handle un-normalized tabular ordinal features far better than neural nets.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8: DISCUSSION &amp; STRESS TESTING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Macroeconomic Stress Testing &amp; Evaluation Plot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12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Macroeconomic Stress Testing Scenario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Simulated Stagflation Shock:</a:t>
            </a:r>
            <a:br/>
            <a:r>
              <a:t>• Income Contraction: MonthlyIncome drops by 20% (x 0.80)</a:t>
            </a:r>
            <a:br/>
            <a:r>
              <a:t>• Debt Spike: DebtRatio expands by 25% (x 1.25)</a:t>
            </a:r>
            <a:br/>
            <a:br/>
            <a:r>
              <a:t>Stress Test Results:</a:t>
            </a:r>
            <a:br/>
            <a:r>
              <a:t>• LightGBM: Base AUC 0.8667 -&gt; Stressed 0.8660 (+6.09% default surge)</a:t>
            </a:r>
            <a:br/>
            <a:r>
              <a:t>• XGBoost: Base AUC 0.8664 -&gt; Stressed 0.8660 (+6.14% default surge)</a:t>
            </a:r>
            <a:br/>
            <a:r>
              <a:t>• MLP: Base AUC 0.8376 -&gt; Stressed 0.8372 (+4.38% default surge)</a:t>
            </a:r>
            <a:br/>
            <a:r>
              <a:t>• Logistic Regression: Base AUC 0.8227 -&gt; Stressed 0.8221 (+1.47% default surge)</a:t>
            </a:r>
            <a:br/>
            <a:br/>
            <a:r>
              <a:t>Takeaway: Modern GBDTs exhibit &gt;99.9% AUC rank-order stability while dynamically expanding predicted default rates by ~6.1%, allowing financial institutions to raise loss provisions prior to default realization.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0292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CC"/>
                </a:solidFill>
              </a:defRPr>
            </a:pPr>
            <a:r>
              <a:t>SECTION 9: CONCLUSION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Conclusion, Research Impact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ML Review 3 Presentation | Credit Default Risk Prediction Benchmark | Slide 13 of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1. Key Achievements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Built a data-leakage-free, regulatory-compliant benchmark comparing 7 ML/DL architectures on 150,000 borrower profiles.</a:t>
            </a:r>
            <a:br/>
            <a:r>
              <a:t>• LightGBM &amp; XGBoost achieved supreme performance (0.8667 &amp; 0.8664 ROC-AUC, ~78.5% default recall).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2. Research Gaps Addressed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Preprocessing isolation eliminated data leakage bias.</a:t>
            </a:r>
            <a:br/>
            <a:r>
              <a:t>• Econometric stress testing proved GBDT rank-order stability under stagflation shocks.</a:t>
            </a:r>
            <a:br/>
            <a:r>
              <a:t>• TreeSHAP provided FCRA/ECOA regulatory adverse action compliance.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3. Practical Significance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Transitioning from scorecard Logistic Regression to LightGBM captures +16.3% more defaulting accounts, saving banks millions in credit write-offs.</a:t>
            </a:r>
            <a:br/>
            <a:r>
              <a:t>• Dynamic default expansion (+6.1%) enables proactive capital provisioning.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B365D"/>
                </a:solidFill>
              </a:defRPr>
            </a:pPr>
            <a:r>
              <a:t>4. Future Scope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Multi-year macroeconomic survival analysis for Loss Given Default (LGD) time-to-event modeling.</a:t>
            </a:r>
            <a:br/>
            <a:r>
              <a:t>• Automated feature synthesis &amp; self-supervised tabular pre-training.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007ACC"/>
                </a:solidFill>
              </a:defRPr>
            </a:pPr>
            <a:r>
              <a:t>THANK YOU!</a:t>
            </a:r>
          </a:p>
          <a:p>
            <a:pPr algn="ctr">
              <a:spcAft>
                <a:spcPts val="3000"/>
              </a:spcAft>
              <a:defRPr sz="2000" b="1">
                <a:solidFill>
                  <a:srgbClr val="FFFFFF"/>
                </a:solidFill>
              </a:defRPr>
            </a:pPr>
            <a:r>
              <a:t>Questions &amp; Academic Discussion</a:t>
            </a:r>
          </a:p>
          <a:p>
            <a:pPr algn="ctr">
              <a:defRPr sz="1400">
                <a:solidFill>
                  <a:srgbClr val="C8DCF0"/>
                </a:solidFill>
              </a:defRPr>
            </a:pPr>
            <a:r>
              <a:t>Presenter: [Sumitranand Sharma / Insert Student Name]</a:t>
            </a:r>
            <a:br/>
            <a:r>
              <a:t>Registration Number: [22BCE10420 / Insert Registration Number]</a:t>
            </a:r>
            <a:br/>
            <a:r>
              <a:t>Paper Title: An Empirical Benchmark of Machine Learning and Deep Learning Architectures for Credit Default Risk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